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554480"/>
            <a:ext cx="4206240" cy="4206240"/>
          </a:xfrm>
          <a:prstGeom prst="ellipse">
            <a:avLst/>
          </a:prstGeom>
          <a:solidFill>
            <a:srgbClr val="163B54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2926080"/>
            <a:ext cx="2926080" cy="2926080"/>
          </a:xfrm>
          <a:prstGeom prst="ellipse">
            <a:avLst/>
          </a:prstGeom>
          <a:solidFill>
            <a:srgbClr val="0B6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실습 강의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문서를 그대로 검색하는 RAG부터, LLM으로 문서를 위키로 재구성하는 방식,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둘을 합친 RAG+Wiki까지 — 세 가지 방식을 직접 만들고 비교한다.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3611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0E8388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LLM Wiki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36118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0E83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611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RAG + Wiki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실무 부트캠프 2026 · 실습 기반 강의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MAP · 강의 전체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이야기로 이어지는 8개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17904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938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단독의 한계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230428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부족한가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78608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24912" y="1517904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06624" y="1938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등장·구조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06624" y="230428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검색으로 근거 찾기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17904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938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실습 · 01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28032" y="230428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QA 만들기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137160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67728" y="1517904"/>
            <a:ext cx="384048" cy="384048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193852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한계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230428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검색·청킹·품질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6207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3008376"/>
            <a:ext cx="384048" cy="38404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5216" y="34290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등장·구조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5216" y="37947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위키로 정제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78608" y="286207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24912" y="3008376"/>
            <a:ext cx="384048" cy="38404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1" name="Text 29"/>
          <p:cNvSpPr/>
          <p:nvPr/>
        </p:nvSpPr>
        <p:spPr>
          <a:xfrm>
            <a:off x="2724912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06624" y="34290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 실습 · 02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706624" y="37947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문서→위키 재구성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0016" y="286207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008376"/>
            <a:ext cx="384048" cy="38404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28032" y="34290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RAG+Wiki 통합 · 03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28032" y="37947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검색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21424" y="286207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67728" y="3008376"/>
            <a:ext cx="384048" cy="38404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41" name="Text 39"/>
          <p:cNvSpPr/>
          <p:nvPr/>
        </p:nvSpPr>
        <p:spPr>
          <a:xfrm>
            <a:off x="696772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49440" y="342900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데모·에이전트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949440" y="379476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비교와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서사 —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말을 잘하지만 항상 정확하진 않다. 이 간극을 RAG(검색)로 메우고, LLM Wiki(정제)로 지식을 다듬고, 둘을 합쳐 규모와 품질을 함께 잡는다.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OBJECTIVES · 학습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강의를 마치면 무엇을 할 수 있나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892040" cy="3200400"/>
          </a:xfrm>
          <a:prstGeom prst="roundRect">
            <a:avLst>
              <a:gd name="adj" fmla="val 2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배우게 되는 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901952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" y="18653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LLM만 쓸 때의 한계와 그 원인을 설명한다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0704" y="22951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구성 요소와 동작 원리를 이해한다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0704" y="2724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문서로 문서 QA(RAG)를 직접 만든다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191256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3154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LLM으로 문서를 위키로 재구성하는 법을 익힌다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621024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위키에 검색을 붙여 RAG+Wiki로 통합한다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050792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" y="4014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방식을 같은 질문으로 비교·평가한다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32120" y="1325880"/>
            <a:ext cx="3154680" cy="3200400"/>
          </a:xfrm>
          <a:prstGeom prst="roundRect">
            <a:avLst>
              <a:gd name="adj" fmla="val 23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607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스택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19385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9385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text-embedding-3-small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44144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LLM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441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gpt-4o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94436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29443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 (PersistentClient)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44728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UI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447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95020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3950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만드나 — 부트캠프 안내 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</a:t>
            </a:r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‘AI Agent 실무 부트캠프 2026’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안내 문서를 근거로 참가자 질문에 답하는 작은 AI를 만든다.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751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3일(월)~7일(금) · 한빛러닝센터 A동 3층 Lab 301 · 09:30~18:00 · 3~4인 1팀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999232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소스, 세 방식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안내 문서 9개를 RAG·LLM Wiki·RAG+Wiki 세 방식으로 각각 구성한다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2999232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답변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47288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지어내지 않고, 검색·정제된 문서를 근거로 답하며 출처를 함께 표시한다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7889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2999232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비교·관찰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36208" y="3803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청크·검색 결과·생성 위키를 눈으로 확인하며 차이를 체감한다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소스 데이터 · bootcamp_docs/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방식이 공유하는 원본 안내 문서 9개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4813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14904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부트캠프 개요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70432" y="18288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목표·대상·운영 개요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27832" y="1371600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4813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41064" y="14904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일정표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41064" y="18288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세션 타임테이블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813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11696" y="1490472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및 등록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11696" y="18288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시간·교육장·주차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" y="24505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24597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환경 설치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70432" y="27980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준비물·Docker 지원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2340864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55848" y="24505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41064" y="24597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일차별 실습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41064" y="27980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일차별 주제·결과물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98464" y="2340864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24505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11696" y="245973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제출 규칙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11696" y="279806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일일·최종 과제 마감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" y="34198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70432" y="3429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 기준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70432" y="37673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출석·과제·발표 조건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27832" y="3310128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55848" y="34198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41064" y="3429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· Q&amp;A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941064" y="37673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멘토링 시간·Slack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98464" y="3310128"/>
            <a:ext cx="2688336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26480" y="34198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11696" y="342900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FAQ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711696" y="376732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—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문서처럼 정보가 여러 문서에 흩어져 있고(등록·장소·일정), 08 멘토링과 09 FAQ에는 중복도 있다. 바로 이 특성이 RAG와 LLM Wiki의 차이를 드러낸다.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구성 · 폴더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모듈 + 통합 데모 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72184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F2A3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721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bootcamp_docs/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399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소스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11880" y="139903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안내 문서 9개 (검색·재구성 대상)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534924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075688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756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01_rag/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20025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20025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그대로 청킹·검색해서 답변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534924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79192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791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02_llm_wiki/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원본을 주제별 위키로 재구성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534924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82696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826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03_rag_llm_wiki/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3209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Wiki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11880" y="3209544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재구성한 위키에 검색을 붙임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85616"/>
            <a:ext cx="534924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886200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E0A73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86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38130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데모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11880" y="381304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방식을 사이드바로 전환·비교 (Streamlit)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371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36208" y="1517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규칙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36208" y="1956816"/>
            <a:ext cx="256032" cy="256032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2" name="Text 30"/>
          <p:cNvSpPr/>
          <p:nvPr/>
        </p:nvSpPr>
        <p:spPr>
          <a:xfrm>
            <a:off x="6236208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19110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모듈은 step1 → step2 → … 순서로 실행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6208" y="2560320"/>
            <a:ext cx="256032" cy="256032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25146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실행마다 중간 산출물(청크·검색결과·위키)을 눈으로 확인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36208" y="3163824"/>
            <a:ext cx="256032" cy="256032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31181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rag_core.py · config.py에 공통 로직 집약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767328"/>
            <a:ext cx="256032" cy="256032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41" name="Text 39"/>
          <p:cNvSpPr/>
          <p:nvPr/>
        </p:nvSpPr>
        <p:spPr>
          <a:xfrm>
            <a:off x="6236208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37216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api_key.txt에서 키 자동 로드 (별도 설정 불필요)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문제 제기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LLM만 사용할 때의 한계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강력한 언어 생성 모델이지만, 그 자체만으로는 신뢰할 수 있는 지식 시스템이 되기 어렵다.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LLM만 사용할 때의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“말을 잘한다”와 “항상 정확하다”는 다르다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‘LLM만 사용’ 구조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670048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0F2A3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670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328416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3284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문서·DB·검색 없이, 학습된 지식과 지금 프롬프트만으로 답한다.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쓰는 지식은 두 가지뿐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965960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1947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내부 지식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과정에서 파라미터에 압축된 일반 지식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내 정보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대화에서 사용자가 직접 넣어준 정보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0F2A3F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307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—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정보·부트캠프 안내처럼 실제로 필요한 지식이 이 두 범위 안에 항상 있지는 않다.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LLM만 사용할 때의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 사용의 대표적 한계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정보를 모른다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408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시점 이후 정보는 반영되지 않는다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27832" y="13716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55448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10712" y="202996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Hallucination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10712" y="23408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것도 사실처럼 그럴듯하게 지어낸다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13716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55448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81344" y="202996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확인이 어렵다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81344" y="234086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출처·원문을 추적하기 곤란하다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0896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사내·비공개 지식 없음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8953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부트캠프 안내 같은 문서는 알 수 없다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27832" y="29260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10712" y="310896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6" name="Text 24"/>
          <p:cNvSpPr/>
          <p:nvPr/>
        </p:nvSpPr>
        <p:spPr>
          <a:xfrm>
            <a:off x="3410712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35844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 처리 제한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10712" y="38953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통째로 넣기는 비효율·비용 부담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98464" y="29260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3108960"/>
            <a:ext cx="402336" cy="40233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1" name="Text 29"/>
          <p:cNvSpPr/>
          <p:nvPr/>
        </p:nvSpPr>
        <p:spPr>
          <a:xfrm>
            <a:off x="6181344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1344" y="358444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일관성·업데이트 곤란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81344" y="389534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질문에 다른 답, 갱신은 재학습 필요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LLM만 사용할 때의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부트캠프 맥락에서 바로 드러나는 문제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99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77393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 Agent 실무 부트캠프 2026의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수료 기준은 무엇인가요?”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단독의 답 (문서 없음)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85292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“보통 출석 70% 이상과 프로젝트 제출이면 수료됩니다” 처럼 일반론으로 그럴듯하게 지어낸다.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4023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문서를 본 적이 없으므로 값이 틀릴 수 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문서(07 수료 기준)의 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64608" y="187452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18562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출석률 80% 이상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85232" y="21671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09:30 QR 체크인, 지각 3회=결석 1회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64608" y="269748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85232" y="26791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과제 4개 모두 제출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85232" y="29900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1~4일차, 매일 23:59 마감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64608" y="352044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350215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 팀 프로젝트 발표 참여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85232" y="3813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8/7 금 15:00~17:00, 미참여 시 수료 불인정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조건을 모두 만족해야 수료 — 문서를 봐야만 정확히 답할 수 있다.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지식 저장소가 아니라 언어 추론 엔진이다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것 (강점)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이해 · 요약 · 분류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생성 · 추론 보조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798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내용을 쉽게 설명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369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인터페이스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혼자서는 보장 못 하는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 · 정확성 · 출처 추적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2359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사내·비공개 지식 반영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2798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문서 처리 · 일관된 답변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32369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손쉬운 지식 업데이트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2A3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문서를 검색해 근거를 가져오자. 이것이 </a:t>
            </a:r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등장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문제 제기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등장 배경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지식을 외우게 하지 말고, 필요할 때 외부 문서를 찾아서 답하게 하자.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RAG의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= 언어 생성 능력 + 문서 조회 능력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이해·요약·설명·생성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4952" y="150876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시스템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문서 조회·최신 반영·출처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62472" y="150876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0A73B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240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“LLM이 모든 지식을 외우게 하지 말고, 필요할 때 외부 문서를 찾아서 답하게 하자.”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39867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근거 문서를 찾고, LLM이 그 문서를 읽고 답변을 작성한다. LLM은 ‘기억에 의존하는 모델’에서 ‘자료를 보고 답하는 추론 엔진’으로 바뀐다.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RAG의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LLM과 검색은 강점이 정반대다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시스템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이해·요약·설명·추론·생성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문서 조회·최신 반영·출처 연결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환각·최신성 부족·근거 불명확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 이해·답변 생성은 못 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읽고 이해해서 답변 작성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 문서 찾기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7F1F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시스템이 근거 문서를 찾고, LLM이 그 문서를 읽고 답변을 작성하게 하자 — 이것이 RAG의 기본 출발점.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RAG의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구조의 변화: LLM 단독 → RAG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LLM 단독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2057400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05740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24414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2624328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0F2A3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624328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17320" y="30083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3191256"/>
            <a:ext cx="2057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191256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기억에만 의존 → 낡거나 지어낼 수 있다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RAG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1938528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9385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224942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395728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0E8388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3957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시스템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0" y="270662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852928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8529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문서 조각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316382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3310128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0E8388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3621024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767328"/>
            <a:ext cx="2057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7673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답변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RAG의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RAG가 완화하는 문제 — 부트캠프 문서로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819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안내 문서를 인덱스에 반영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27832" y="141732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5819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10712" y="203911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문서로 답변 범위를 제한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98464" y="141732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158191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81344" y="203911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문서의 파일·섹션을 근거로 연결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4495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지식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부트캠프 안내 문서를 검색 가능하게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288036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0712" y="304495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10712" y="350215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필요한 문서 일부만 사용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98464" y="2880360"/>
            <a:ext cx="2688336" cy="1280160"/>
          </a:xfrm>
          <a:prstGeom prst="roundRect">
            <a:avLst>
              <a:gd name="adj" fmla="val 571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3044952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1344" y="3502152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근거 문서 → 일관된 답변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RAG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기본 구조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답변하기 전에 외부 문서에서 관련 정보를 검색하고, 그 결과를 근거로 답변을 생성한다.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파이프라인으로 이해한다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문서 준비 (오프라인)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84708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2586" y="184708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76906" y="184708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6906" y="184708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· 청킹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21124" y="184708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95444" y="184708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5444" y="184708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생성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39662" y="184708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3982" y="184708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3982" y="184708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 저장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4505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미리 검색 가능한 형태로 준비해 둔다.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질문 응답 (온라인)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335584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335584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02586" y="335584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676906" y="335584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76906" y="335584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조각 검색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21124" y="335584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695444" y="335584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95444" y="335584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39662" y="3355848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713982" y="3355848"/>
            <a:ext cx="1762506" cy="548640"/>
          </a:xfrm>
          <a:prstGeom prst="roundRect">
            <a:avLst>
              <a:gd name="adj" fmla="val 10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13982" y="3355848"/>
            <a:ext cx="176250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39593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문서 → 좋은 검색 결과 → 좋은 답변. 검색이 실패하면 답변도 흔들린다.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RAG를 이루는 핵심 구성 요소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2708" y="1609344"/>
            <a:ext cx="365760" cy="365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6" name="Text 4"/>
          <p:cNvSpPr/>
          <p:nvPr/>
        </p:nvSpPr>
        <p:spPr>
          <a:xfrm>
            <a:off x="1092708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9933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76272" y="1463040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11780" y="1609344"/>
            <a:ext cx="365760" cy="365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0" name="Text 8"/>
          <p:cNvSpPr/>
          <p:nvPr/>
        </p:nvSpPr>
        <p:spPr>
          <a:xfrm>
            <a:off x="281178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31136" y="19933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 Loader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95344" y="1463040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0852" y="1609344"/>
            <a:ext cx="365760" cy="365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4" name="Text 12"/>
          <p:cNvSpPr/>
          <p:nvPr/>
        </p:nvSpPr>
        <p:spPr>
          <a:xfrm>
            <a:off x="4530852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50208" y="19933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14416" y="1463040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1609344"/>
            <a:ext cx="365760" cy="365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8" name="Text 16"/>
          <p:cNvSpPr/>
          <p:nvPr/>
        </p:nvSpPr>
        <p:spPr>
          <a:xfrm>
            <a:off x="6249924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9933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분할 Chunking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1463040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68996" y="1609344"/>
            <a:ext cx="365760" cy="36576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2" name="Text 20"/>
          <p:cNvSpPr/>
          <p:nvPr/>
        </p:nvSpPr>
        <p:spPr>
          <a:xfrm>
            <a:off x="7968996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88352" y="1993392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Embedding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679192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708" y="2825496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708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" y="320954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 / 인덱스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76272" y="2679192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11780" y="2825496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0" name="Text 28"/>
          <p:cNvSpPr/>
          <p:nvPr/>
        </p:nvSpPr>
        <p:spPr>
          <a:xfrm>
            <a:off x="281178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31136" y="320954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검색기 Retriever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95344" y="2679192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30852" y="2825496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4" name="Text 32"/>
          <p:cNvSpPr/>
          <p:nvPr/>
        </p:nvSpPr>
        <p:spPr>
          <a:xfrm>
            <a:off x="4530852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50208" y="320954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구성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14416" y="2679192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49924" y="2825496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8" name="Text 36"/>
          <p:cNvSpPr/>
          <p:nvPr/>
        </p:nvSpPr>
        <p:spPr>
          <a:xfrm>
            <a:off x="6249924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320954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33488" y="2679192"/>
            <a:ext cx="1636776" cy="960120"/>
          </a:xfrm>
          <a:prstGeom prst="roundRect">
            <a:avLst>
              <a:gd name="adj" fmla="val 7619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968996" y="2825496"/>
            <a:ext cx="365760" cy="36576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42" name="Text 40"/>
          <p:cNvSpPr/>
          <p:nvPr/>
        </p:nvSpPr>
        <p:spPr>
          <a:xfrm>
            <a:off x="7968996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88352" y="3209544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생성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준비 5단계(①~⑤·저장) · 질문 응답 5단계(검색~생성) — 준비가 절반, 검색이 나머지 절반을 좌우한다.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 Chunking: 왜, 얼마나, 어떻게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나누는가?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전체는 너무 커서 검색·비용에 불리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관련된 부분만 정확히 찾기 위해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323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조각만 프롬프트에 넣기 위해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크기의 균형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작으면 → 맥락 상실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7124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크면 → 노이즈·비용 증가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제목·상위 섹션 정보를 함께 보존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EEF6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499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실습의 청킹 방식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18888" y="187452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1856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헤더 기준 분할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30368" y="2148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#, ##, ### 섹션 단위로 나누고 상위 제목 경로를 함께 저장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18888" y="269748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679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길면 재분할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9718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MAX_CHARS(1,200자) 초과 시 문단 단위로 다시 쪼갠다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18888" y="3520440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18888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3502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부착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379476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청크에 source(파일)·section(섹션 경로) 저장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임베딩과 벡터 검색: 의미로 찾는다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27632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“단축근무 신청 가능?”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6276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86200" y="1627632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0F2A3F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0" y="16276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-0.44, 0.87, …]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6276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의미 벡터로 변환 (text-embedding-3-small)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검색의 원리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21868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공간의 벡터로 바꾼 뒤, 질문 벡터와 가까운 문서 벡터를 찾는다. 표현이 달라도 의미가 비슷하면 검색된다. (인덱싱과 검색은 같은 임베딩 함수를 써야 한다.)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78892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 vs 키워드 검색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3246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의미가 비슷한 문서 (“근무시간 단축” ≈ “단축근무”)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검색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용어·조항·코드 (“제12조”, 파일명)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응답: 검색 → 답변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41094" cy="685800"/>
          </a:xfrm>
          <a:prstGeom prst="roundRect">
            <a:avLst>
              <a:gd name="adj" fmla="val 8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4410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80006" y="14630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154326" y="1463040"/>
            <a:ext cx="1441094" cy="685800"/>
          </a:xfrm>
          <a:prstGeom prst="roundRect">
            <a:avLst>
              <a:gd name="adj" fmla="val 8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54326" y="1463040"/>
            <a:ext cx="14410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7133" y="14630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51453" y="1463040"/>
            <a:ext cx="1441094" cy="685800"/>
          </a:xfrm>
          <a:prstGeom prst="roundRect">
            <a:avLst>
              <a:gd name="adj" fmla="val 8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51453" y="1463040"/>
            <a:ext cx="14410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74259" y="14630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548579" y="1463040"/>
            <a:ext cx="1441094" cy="685800"/>
          </a:xfrm>
          <a:prstGeom prst="roundRect">
            <a:avLst>
              <a:gd name="adj" fmla="val 8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48579" y="1463040"/>
            <a:ext cx="14410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71386" y="146304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45706" y="1463040"/>
            <a:ext cx="1441094" cy="685800"/>
          </a:xfrm>
          <a:prstGeom prst="roundRect">
            <a:avLst>
              <a:gd name="adj" fmla="val 80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5706" y="1463040"/>
            <a:ext cx="144109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88920" y="23774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벡터와 가까운 청크 Top-K개를 찾는다 (이 실습 기본값 K=4)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852928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구성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88920" y="28346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제거·정렬·출처 포함 — 검색된 조각을 한 덩어리로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310128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88920" y="32918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‘문서 근거로만 답하라’ 지시 + 검색 문서 + 질문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생성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88920" y="37490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문서만 근거로, 없으면 “확인할 수 없습니다”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6012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88920" y="42062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답변에 참고한 파일·섹션을 함께 표시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RAG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품질이 답변 품질을 좌우한다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Garbage in, garbage 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659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검색 결과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9659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답변 가능성 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74320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432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검색 결과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7432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답변 가능성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352044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5204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없음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불가 또는 환각 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1888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실습의 RAG 프롬프트 규칙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문서 내용만 근거로 답한다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달라도 문서에 있으면 답한다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부분만 답 가능하면 답하고 나머지는 ‘확인 불가’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전혀 없으면 “확인할 수 없습니다”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511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날짜·시간·장소·조건은 문서 값 그대로 인용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상식·추측으로 사실을 만들지 않는다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실습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실습 — 01_rag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안내 문서를 그대로 청킹·검색해, 그 근거로 답하는 문서 QA를 step별로 만든다.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만드나: 근거 있는 문서 QA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17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 예시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</a:t>
            </a:r>
            <a:pPr indent="0" marL="0">
              <a:buNone/>
            </a:pPr>
            <a:r>
              <a:rPr lang="en-US" sz="13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설치가 안 되어 있으면 언제 도움을 받을 수 있나요?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77724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9572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설치 지원은 2일차인 2026년 8월 4일 화요일 10:30~11:00에 진행됩니다. 장소는 A동 3층 Lab 301 앞 멘토 데스크입니다.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</a:t>
            </a:r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bootcamp_docs/04_실습_환경_설치_가이드.md · bootcamp_docs/02_전체_일정표.md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문서만 근거로 답하고, 문서에 없는 질문(예: “참가비는?”)에는 “확인할 수 없습니다”로 답한다.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파이프라인과 step 매핑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36192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step1_load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0" y="14538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로드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4538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 읽기·글자 수 확인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" y="2157984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075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step2_chunk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0756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기준 분할 → build/chunks.jsonl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2779776"/>
            <a:ext cx="310896" cy="310896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step3_embed_store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임베딩·저장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697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벡터화 → chroma_db/ 저장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8269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" y="340156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3192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step4_retrieve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0" y="3319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319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유사한 청크·거리 확인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" y="4023360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9410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step5_generate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0400" y="3941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39410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근거로 답변 + 출처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①~③ 문서 준비</a:t>
            </a:r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10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④~⑤ 질문 응답</a:t>
            </a:r>
            <a:pPr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—  공통 로직은 rag_core.py에 모여 있고, 각 step이 이를 호출하며 과정을 보여준다.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①~③ 문서를 검색 가능하게 만들기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step1 · 문서 읽기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bootcamp_docs/의 Markdown 9개를 읽어 텍스트 추출. 문서 목록·글자 수를 눈으로 확인.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59689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step2 · 청크로 나누기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46888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헤더(#,##,###) 기준으로 섹션 분할 후 1,200자 초과 시 재분할. 결과를 build/chunks.jsonl로 저장.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55701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456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step3 · 임베딩·저장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34290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청크를 text-embedding-3-small로 벡터화해 Chroma(chroma_db/, 컬렉션 bootcamp_docs)에 저장.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7F1F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 — </a:t>
            </a:r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크기(MAX_CHARS)를 바꾸면 청크 수와 검색·답변 품질이 어떻게 달라지는가?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④~⑤ 검색하고, 근거로 답하기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step4 · 검색 (생성 없음)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임베딩해 가장 가까운 청크 Top-K(=4)를 반환. 각 청크의 거리(작을수록 유사)·출처·섹션을 출력해 ‘검색’ 단계만 눈으로 확인한다.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971800"/>
            <a:ext cx="3566160" cy="1280160"/>
          </a:xfrm>
          <a:prstGeom prst="roundRect">
            <a:avLst>
              <a:gd name="adj" fmla="val 4286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step4_retrieve.py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"수료 기준은 무엇인가요?"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거리 0.21 | 07_수료_기준.md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거리 0.34 | 02_전체_일정표.md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step5 · 검색 + 생성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18888" y="193852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0368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30368" y="221284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역할·답변 규칙 + 검색된 문서 + 질문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18888" y="2688336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0368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30368" y="2962656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문서만 근거로, 없으면 ‘확인 불가’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18888" y="343814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3419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출력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30368" y="3712464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참고한 파일·섹션을 답변과 함께 표시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방법과 관찰 포인트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9204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4526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 키는 ../api_key.txt 자동 로드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step1_load.py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step2_chunk.py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step3_embed_store.py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step4_retrieve.py "수료 기준은?"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step5_generate.py "수료 기준은?"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완성형 웹 데모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371600"/>
            <a:ext cx="315468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3328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33288" y="1901952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0" name="Text 8"/>
          <p:cNvSpPr/>
          <p:nvPr/>
        </p:nvSpPr>
        <p:spPr>
          <a:xfrm>
            <a:off x="57332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9904" y="185623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크기를 바꾸면 검색 결과가 어떻게 달라지나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33288" y="2523744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3" name="Text 11"/>
          <p:cNvSpPr/>
          <p:nvPr/>
        </p:nvSpPr>
        <p:spPr>
          <a:xfrm>
            <a:off x="5733288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9904" y="247802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Top-K를 늘리면 답변이 더 정확해지나, 산만해지나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33288" y="3145536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573328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9904" y="309981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없는 질문에 정말 ‘확인 불가’로 답하나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33288" y="3767328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9904" y="3721608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값이 큰데도 엉뚱한 청크가 섞이지 않나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RAG 실습 · 01_rag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체크리스트와 자주 만나는 문제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확인 체크리스트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정상적으로 읽고 적절히 청킹했는가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청크에 원본 파일·섹션이 보존됐는가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관련 청크가 검색되는가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문서 내용에 근거하는가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질문에 ‘확인 불가’라고 답하는가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89534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함께 표시되는가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발생하는 문제 · 원인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18888" y="19019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결과가 엉뚱하다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크기·섹션 제목·임베딩 이슈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18888" y="2523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없는 내용을 말한다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2798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규칙 약함·출처 미강제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18888" y="3145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근거와 안 맞는다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3419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경계 불명확·번호 혼동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18888" y="3767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길고 산만하다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 과다·형식 미지정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RAG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한계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RAG를 쓴다고 무조건 정확해지지 않는다. 검색·청킹·문서 품질이 함께 맞아야 작동한다.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RAG의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해결했고, 무엇을 남겼나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해결한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정보 부족 → 외부 문서 검색으로 반영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지식 부족 → 내부 문서를 인덱스에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723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→ 검색 문서로 답변 범위 제한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639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불명확 → 파일·섹션 메타데이터 연결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것 (새로운 문제)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38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실패하면 답변도 실패한다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441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청킹이 잘못되면 맥락이 끊긴다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944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문서가 지저분하면 검색 품질 저하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34472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여러 문서에 흩어져 종합이 어렵다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3950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중복·충돌 문서를 다루기 어렵다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RAG의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1·2 — 검색 실패 · 청킹으로 끊긴 맥락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1 · 검색이 실패하면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표현 ≠ 문서 표현 (“이거 신청돼?”)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너무 짧거나 모호하다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키워드가 중요한 질문에 약함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인덱스에 문서가 아예 없다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부적절한 문서가 프롬프트에 들어가면 답변도 틀린다.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2 · 청킹으로 맥락이 끊김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8888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등록·장소 정보가 03 문서와 02 일정표에 나뉘어 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8888" y="2395728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3957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[청크1] 등록은 A동 1층 로비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18888" y="3054096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0540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[청크2] 교육장은 A동 3층 Lab 301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3703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청크만 검색되면 ‘등록 위치’와 ‘교육장’이 뒤섞인 불완전한 답이 나온다.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3 — 흩어지고 중복된 원본 → LLM Wiki로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그대로 쓸 때의 문제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정보가 여러 문서에 흩어져 있다 (등록·장소·일정)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멘토링과 09 FAQ에 중복 내용이 많다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원본이 지저분할수록 검색 품질이 떨어진다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단위 조각만으로는 개념 전체를 못 준다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발상의 전환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9659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검색할 때마다 지저분한 원본을 뒤지는 대신,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LLM으로 문서를 깔끔한 위키로 정제해 두면?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18888" y="292608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163B54"/>
          </a:solidFill>
          <a:ln/>
        </p:spPr>
      </p:sp>
      <p:sp>
        <p:nvSpPr>
          <p:cNvPr id="14" name="Text 12"/>
          <p:cNvSpPr/>
          <p:nvPr/>
        </p:nvSpPr>
        <p:spPr>
          <a:xfrm>
            <a:off x="5001768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질문이 오면 관련 원본 조각을 검색한다.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문서를 미리 주제별 위키로 재구성해 정제해 둔다.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LLM Wiki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Wiki의 등장 배경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검색하는 것을 넘어, LLM으로 문서를 미리 깔끔한 지식(위키)으로 재구성한다.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LLM Wiki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반응형, LLM Wiki는 축적형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반응형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10312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5420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761488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원본 조각 검색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419856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4198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4069080" cy="3063240"/>
          </a:xfrm>
          <a:prstGeom prst="roundRect">
            <a:avLst>
              <a:gd name="adj" fmla="val 2388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· 축적형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1965960"/>
            <a:ext cx="26060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96596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원본 문서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9240" y="2350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2532888"/>
            <a:ext cx="2606040" cy="402336"/>
          </a:xfrm>
          <a:prstGeom prst="roundRect">
            <a:avLst>
              <a:gd name="adj" fmla="val 11364"/>
            </a:avLst>
          </a:prstGeom>
          <a:solidFill>
            <a:srgbClr val="0E8388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5328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주제별로 정제·통합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49240" y="291693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3099816"/>
            <a:ext cx="26060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09981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재구성된 위키 페이지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348386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3666744"/>
            <a:ext cx="26060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6667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재사용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LLM Wiki 등장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실습에서 ‘LLM Wiki’란 무엇인가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문서를 LLM에게 주고, 요약·중복 통합·정규화해서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‘주제별 위키 페이지’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미리 재구성한다.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원본을 핵심 위주로 압축한다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통합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멘토링 + 09 FAQ를 한 페이지로 합친다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6060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표현·구조를 정리해 깔끔하게 만든다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— 문서를 ‘개념 그래프’로 만드는 게 아니라, 사람이 읽기 좋은 주제별 문서로 다시 쓰는 것이다. 원본에 없는 사실은 새로 만들지 않는다.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미리 정제하나 — 정제의 이점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3677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 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167128"/>
            <a:ext cx="3666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깔끔한 위키는 원본보다 검색이 잘 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63677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6733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일관성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18888" y="2167128"/>
            <a:ext cx="3666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정보가 주제별로 모여 답변이 매끄럽다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19125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227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제거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721608"/>
            <a:ext cx="3666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내용을 한 곳에서 관리한다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97180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3191256"/>
            <a:ext cx="402336" cy="40233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278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18888" y="3721608"/>
            <a:ext cx="3666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지식을 RAG·에이전트가 다시 활용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LLM Wiki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기본 구조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문서를 LLM으로 주제별 위키로 재구성하고, 검색 없이 위키 전체를 근거로 답한다.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LLM Wiki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파이프라인: 재구성 → 위키 전체로 답변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65376" cy="731520"/>
          </a:xfrm>
          <a:prstGeom prst="roundRect">
            <a:avLst>
              <a:gd name="adj" fmla="val 75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865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04288" y="14630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78608" y="1463040"/>
            <a:ext cx="1865376" cy="731520"/>
          </a:xfrm>
          <a:prstGeom prst="roundRect">
            <a:avLst>
              <a:gd name="adj" fmla="val 75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463040"/>
            <a:ext cx="1865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위키로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25696" y="14630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00016" y="1463040"/>
            <a:ext cx="1865376" cy="731520"/>
          </a:xfrm>
          <a:prstGeom prst="roundRect">
            <a:avLst>
              <a:gd name="adj" fmla="val 75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1463040"/>
            <a:ext cx="1865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확인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(선택)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47104" y="1463040"/>
            <a:ext cx="292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21424" y="1463040"/>
            <a:ext cx="1865376" cy="731520"/>
          </a:xfrm>
          <a:prstGeom prst="roundRect">
            <a:avLst>
              <a:gd name="adj" fmla="val 7500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1463040"/>
            <a:ext cx="186537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전체로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RAG와의 가장 큰 차이: 질의 시점에 ‘검색’하지 않는다. 지식을 미리 위키로 정제해 두고, 그 위키를 통째로 컨텍스트에 넣어 답한다.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지식 → 문맥 일관성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7124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실패·청킹 오류가 없다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4023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문서 집합에 특히 잘 맞는다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069080" cy="1508760"/>
          </a:xfrm>
          <a:prstGeom prst="roundRect">
            <a:avLst>
              <a:gd name="adj" fmla="val 484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34015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만드는 데 LLM 생성 비용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65192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많아지면 위키 전체가 컨텍스트 초과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65192" y="4023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위키에도 검색이 필요해진다 (03)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LLM Wiki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매핑: 원본 9개 → 위키 8개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개요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604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부트캠프 개요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3716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일정표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전체 일정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0482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장소·등록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0482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장소 및 등록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2048256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82312" y="204825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실습환경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0482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실습 환경 설치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27249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일차별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7249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일차별 실습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724912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82312" y="272491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과제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7249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과제 제출 규칙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401568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" y="34015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수료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수료 기준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401568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DF3E0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82312" y="34015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멘토링 + 09 FAQ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멘토링 및 FAQ (통합)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재구성의 핵심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멘토링과 09 FAQ처럼 중복·연관된 원본 여러 개를 하나의 위키 페이지로 ‘통합’한다. (config.TOPICS 매핑)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LLM Wiki 기본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생성 규칙 — 환각 금지가 핵심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WIKI_SYSTEM_PROMPT (요지)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847088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당신은 부트캠프 안내 문서를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정리하는 편집자입니다.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주어진 ‘원본 문서’ 내용만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사용해 위키 페이지를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한국어 Markdown으로 작성하세요.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원본에 없는 사실 금지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날짜·시간·장소·조건은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원본 그대로 정확히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중복은 통합, 표·목록 구조화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사족 없이 본문만 출력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1888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하는 이유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18888" y="188366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0368" y="1865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원본만 근거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30368" y="215798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위키가 새로운 환각의 출처가 되지 않도록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8888" y="252374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2505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정확 유지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0368" y="279806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마감·시간·장소는 틀리면 치명적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316382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163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31455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통합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343814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안내를 한 곳에서 관리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18888" y="380390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0368" y="3785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0368" y="407822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표·목록으로 사람이 읽기 좋게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RAG(01) vs LLM Wiki(02)</a:t>
            </a:r>
            <a:endParaRPr lang="en-US" sz="25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(01_rag)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Wiki (02_llm_wiki)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 정리 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함 (원본 그대로)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LLM이 위키로 정제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시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청크만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없음 · 위키 전체 투입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청크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페이지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그대로, 대규모에 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정리된 지식, 문맥 일관성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지저분하면 품질 저하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비용, 대규모는 컨텍스트 초과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실습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실습 — 02_llm_wiki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LLM으로 주제별 위키로 재구성하고, 그 위키 전체를 근거로 답한다.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LLM Wiki 실습 · 02_llm_wiki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파이프라인과 step 매핑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step1_load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+ 매핑 확인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0" y="1508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목록·위키 페이지 매핑 확인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2240280"/>
            <a:ext cx="310896" cy="310896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2167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step2_build_wiki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2167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생성 (핵심)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2167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주제별로 재구성 → wiki/*.md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289864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2825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step3_inspect_wiki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2825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확인 (선택)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0" y="28254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미리보기·원본 대비 압축률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557016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34838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step4_answer_from_wiki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34838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위키로 답변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34838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없이 위키 전체로 답변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step2가 이 실습의 심장 — 원본을 그냥 요약하는 게 아니라, 주제별로 정제·통합해 위키로 다시 쓴다.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LLM Wiki 실습 · 02_llm_wiki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step2 · LLM이 위키를 생성한다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· 흩어진 원본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83664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08_멘토링_및_QA_안내.md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09_참가자_FAQ.md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멘토링 17:00~18:00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Slack #bootcamp-qa …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(FAQ) Docker 설치 지원은?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(FAQ) 최종 발표 언제?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두 문서에 내용이 겹치고 흩어져 있다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70832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· 통합된 위키 페이지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0328" y="1883664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멘토링 및 자주 묻는 질문(FAQ)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멘토링 운영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매일 17:00~18:00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A동 3층 Lab 301 앞 멘토 데스크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질문 채널 (Slack)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#bootcamp-qa / #assignment-help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자주 묻는 질문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Docker 설치 지원 · 최종 발표 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LLM Wiki 실습 · 02_llm_wiki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step4 · 위키 전체로 답변 (검색 없음)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방식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임베딩·검색하지 않는다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위키 전체를 컨텍스트에 넣는다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위키에 있으면 근거로 답한다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32841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위키에 없으면 “위키에서 확인할 수 없습니다”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80390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날짜·시간·장소는 위키 값 그대로 인용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1554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step4_answer_from_wiki.py \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"수료 기준은?"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228600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수료하려면 세 조건을 모두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만족해야 합니다: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출석률 80% 이상,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일일 과제 4개 모두 제출,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5일차 팀 프로젝트 발표 참여.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[사용한 위키] 07_수료.md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LLM Wiki 실습 · 02_llm_wiki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방법과 관찰 포인트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9204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순서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7452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step1_load.py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step2_build_wiki.py   # 위키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step3_inspect_wiki.py # 확인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step4_answer_from_wiki.py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"수료 기준은?"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산출물: wiki/*.md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03_rag_llm_wiki가 이 위키를 입력으로 사용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371600"/>
            <a:ext cx="315468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3328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33288" y="1901952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0" name="Text 8"/>
          <p:cNvSpPr/>
          <p:nvPr/>
        </p:nvSpPr>
        <p:spPr>
          <a:xfrm>
            <a:off x="57332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9904" y="1856232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대비 위키가 얼마나 압축됐나 (압축률)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33288" y="2523744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3" name="Text 11"/>
          <p:cNvSpPr/>
          <p:nvPr/>
        </p:nvSpPr>
        <p:spPr>
          <a:xfrm>
            <a:off x="5733288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9904" y="247802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중복된 08·09가 한 페이지로 잘 통합됐나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33288" y="3145536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5733288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9904" y="3099816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없는데도 답변이 매끄러운가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33288" y="3767328"/>
            <a:ext cx="274320" cy="2743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9904" y="3721608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위키에 없는 질문에 ‘확인 불가’로 답하나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Wiki의 한계 → 위키에도 검색을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방식의 한계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568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만드는 데 LLM 생성 비용이 든다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위키가 오래되면 다시 만들어야 한다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많아지면 위키 전체가 컨텍스트 초과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위키 안에서도 ‘필요한 부분만’ 찾아야 한다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다음 단계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20116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정제(위키)는 그대로 살리되,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다시 청킹·검색해서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조각만 근거로 쓴다.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18888" y="3063240"/>
            <a:ext cx="3703320" cy="1051560"/>
          </a:xfrm>
          <a:prstGeom prst="roundRect">
            <a:avLst>
              <a:gd name="adj" fmla="val 5217"/>
            </a:avLst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01768" y="30632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+ 검색 =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LLM Wiki (03)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방식의 장점을 합친다.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통합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LLM Wiki 통합 — 03_rag_llm_wiki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위키를 검색 대상으로 삼아 RAG를 수행한다. 정제와 검색, 두 장점을 합친다.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RAG + Wiki 통합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아이디어: 정제 + 검색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E8388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미리 정제(위키화)해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품질을 높인다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4952" y="15087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청킹·검색해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문제도 푼다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62472" y="15087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0A73B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Wiki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정제된 위키에서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0F5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조각만 근거로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E7F1F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930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01_rag와 파이프라인은 똑같다. </a:t>
            </a:r>
            <a:pPr indent="0" marL="0">
              <a:buNone/>
            </a:pPr>
            <a:r>
              <a:rPr lang="en-US" sz="1300" b="1" dirty="0">
                <a:solidFill>
                  <a:srgbClr val="0F2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대상이 원본 → 위키로 바뀐 것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전부다.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정제로 검색 품질을 높이고, 검색으로 규모 문제를 푼다 — 두 장점을 함께 얻는 방식.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RAG + Wiki 통합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파이프라인과 step 매핑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DF3E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3716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선행 조건 — </a:t>
            </a:r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02_llm_wiki/step2_build_wiki.py로 위키를 생성해야 한다. 이 모듈은 ../02_llm_wiki/wiki/*.md를 입력으로 사용한다.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2185416"/>
            <a:ext cx="274320" cy="2743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step1_prepare_wiki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94760" y="2121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준비 확인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2688336"/>
            <a:ext cx="274320" cy="2743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step2_chunk_wiki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624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청킹 → build/chunks.jsonl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" y="3191256"/>
            <a:ext cx="274320" cy="2743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127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step3_embed_store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31272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→ chroma_db/ (컬렉션 bootcamp_wiki)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3694176"/>
            <a:ext cx="274320" cy="2743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630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step4_retrieve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36301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위키에서 검색 (거리 확인)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3308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" y="4197096"/>
            <a:ext cx="274320" cy="2743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step5_generate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1330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위키 조각을 근거로 생성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방식 최종 비교</a:t>
            </a:r>
            <a:endParaRPr lang="en-US" sz="25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 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 LLM Wiki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 RAG + Wiki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청크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청크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 정제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시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청크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전체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청크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대규모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검색으로 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A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정제+검색, 가장 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LLM Wiki — </a:t>
            </a:r>
            <a:pPr indent="0" marL="0">
              <a:buNone/>
            </a:pPr>
            <a:r>
              <a:rPr lang="en-US" sz="1100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지식을 미리 정리(위키)해 검색 품질을 높이고, 검색으로 규모 문제도 푸는 두 장점을 합친 방식.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통합 데모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app.py — 세 방식을 한 화면에서 비교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880360" cy="3108960"/>
          </a:xfrm>
          <a:prstGeom prst="roundRect">
            <a:avLst>
              <a:gd name="adj" fmla="val 2540"/>
            </a:avLst>
          </a:prstGeom>
          <a:solidFill>
            <a:srgbClr val="0F2A3F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17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163B5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01 · RAG (원본 문서)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163B5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02 · LLM Wiki (위키 전체)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369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03 · RAG + Wiki (위키 검색)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20440" y="1371600"/>
            <a:ext cx="5166360" cy="3108960"/>
          </a:xfrm>
          <a:prstGeom prst="roundRect">
            <a:avLst>
              <a:gd name="adj" fmla="val 2353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21608" y="1517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방식을 바꿔가며 비교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21608" y="1901952"/>
            <a:ext cx="292608" cy="29260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6" name="Text 14"/>
          <p:cNvSpPr/>
          <p:nvPr/>
        </p:nvSpPr>
        <p:spPr>
          <a:xfrm>
            <a:off x="372160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1874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방식별 답변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1579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방식에 맞는 답변을 보여준다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21608" y="2542032"/>
            <a:ext cx="292608" cy="29260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0" name="Text 18"/>
          <p:cNvSpPr/>
          <p:nvPr/>
        </p:nvSpPr>
        <p:spPr>
          <a:xfrm>
            <a:off x="3721608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2514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표시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7980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RAG·RAG+Wiki는 검색된 조각·출처를, Wiki는 사용한 페이지를 표시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3182112"/>
            <a:ext cx="292608" cy="29260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4" name="Text 22"/>
          <p:cNvSpPr/>
          <p:nvPr/>
        </p:nvSpPr>
        <p:spPr>
          <a:xfrm>
            <a:off x="3721608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154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재사용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4381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01·03은 각자의 chroma_db, 02는 wiki/*.md를 그대로 사용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21608" y="3822192"/>
            <a:ext cx="292608" cy="292608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28" name="Text 26"/>
          <p:cNvSpPr/>
          <p:nvPr/>
        </p:nvSpPr>
        <p:spPr>
          <a:xfrm>
            <a:off x="3721608" y="3822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3794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 체감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0782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질문에 세 방식의 근거·일관성이 어떻게 다른지 직접 확인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463040" cy="146304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확장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에이전트 시스템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04288" y="288036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4D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근거를 찾게 하고, LLM Wiki는 지식을 이해하게 하고, 에이전트는 그것으로 일을 하게 한다.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에이전트 시스템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각자의 일을 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1600200"/>
            <a:ext cx="731520" cy="731520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원문 근거를 찾는다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78808" y="1600200"/>
            <a:ext cx="731520" cy="731520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1" name="Text 9"/>
          <p:cNvSpPr/>
          <p:nvPr/>
        </p:nvSpPr>
        <p:spPr>
          <a:xfrm>
            <a:off x="417880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2395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구조·개념을 이해한다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DF3E0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67728" y="1600200"/>
            <a:ext cx="731520" cy="731520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2395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724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기반으로 계획·실행·검증한다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혼자 기억해서 일하게 하지 말고,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지식을 찾고(RAG) · 구조화된 지식을 참고하고(Wiki) · 근거를 검증하면서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일하게 한다.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기반 에이전트로 가는 5단계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17904"/>
            <a:ext cx="310896" cy="310896"/>
          </a:xfrm>
          <a:prstGeom prst="ellipse">
            <a:avLst/>
          </a:prstGeom>
          <a:solidFill>
            <a:srgbClr val="5E7480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14447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근거·최신성 약함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" y="2139696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665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0" y="20665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QA·출처 제공 (01)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76148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688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26883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지식을 미리 정제 (02)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" y="3383280"/>
            <a:ext cx="310896" cy="310896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Wiki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33101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+ 검색 통합 (03)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DF3E0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4005072"/>
            <a:ext cx="310896" cy="310896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기반 에이전트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4048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계획·실행·검증·학습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단계는 대체가 아니라 축적이다 — 아래 단계 위에 다음 단계가 쌓인다.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3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WRAP-UP · 전체 여정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지나온 하나의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63624"/>
            <a:ext cx="329184" cy="329184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단독의 한계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41732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24912" y="1563624"/>
            <a:ext cx="329184" cy="329184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0" name="Text 8"/>
          <p:cNvSpPr/>
          <p:nvPr/>
        </p:nvSpPr>
        <p:spPr>
          <a:xfrm>
            <a:off x="2724912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88336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등장·구조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0016" y="141732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63624"/>
            <a:ext cx="329184" cy="329184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실습 (01)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417320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F1F5F6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67728" y="1563624"/>
            <a:ext cx="329184" cy="329184"/>
          </a:xfrm>
          <a:prstGeom prst="ellipse">
            <a:avLst/>
          </a:prstGeom>
          <a:solidFill>
            <a:srgbClr val="0F2A3F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1152" y="1929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한계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32888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2679192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등장·구조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78608" y="2532888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24912" y="2679192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2724912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88336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 실습 (02)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0016" y="2532888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679192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RAG+Wiki 통합 (03)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21424" y="2532888"/>
            <a:ext cx="2048256" cy="914400"/>
          </a:xfrm>
          <a:prstGeom prst="roundRect">
            <a:avLst>
              <a:gd name="adj" fmla="val 8000"/>
            </a:avLst>
          </a:prstGeom>
          <a:solidFill>
            <a:srgbClr val="E7F1F1"/>
          </a:solidFill>
          <a:ln w="9525">
            <a:solidFill>
              <a:srgbClr val="D3DEE1"/>
            </a:solidFill>
            <a:prstDash val="solid"/>
          </a:ln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67728" y="2679192"/>
            <a:ext cx="329184" cy="32918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34" name="Text 32"/>
          <p:cNvSpPr/>
          <p:nvPr/>
        </p:nvSpPr>
        <p:spPr>
          <a:xfrm>
            <a:off x="6967728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31152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데모·에이전트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  <a:effectLst>
            <a:outerShdw sx="100000" sy="100000" kx="0" ky="0" algn="bl" rotWithShape="0" blurRad="88900" dist="38100" dir="5400000">
              <a:srgbClr val="1B2A33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 —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RAG는 근거를 찾게 하고, LLM Wiki는 지식을 정제하고, 통합은 규모와 품질을 함께 잡는다.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&amp; LLM Wiki 실습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657600" cy="3657600"/>
          </a:xfrm>
          <a:prstGeom prst="ellipse">
            <a:avLst/>
          </a:prstGeom>
          <a:solidFill>
            <a:srgbClr val="163B54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1280160"/>
            <a:ext cx="3291840" cy="3291840"/>
          </a:xfrm>
          <a:prstGeom prst="ellipse">
            <a:avLst/>
          </a:prstGeom>
          <a:solidFill>
            <a:srgbClr val="0B6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답변은 좋은 지식 구성 위에서 완성된다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496312"/>
            <a:ext cx="146304" cy="146304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— </a:t>
            </a:r>
            <a:pPr indent="0" marL="0">
              <a:buNone/>
            </a:pPr>
            <a:r>
              <a:rPr lang="en-US" sz="1300" dirty="0">
                <a:solidFill>
                  <a:srgbClr val="D5E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검색해 근거를 제공한다 (01)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971800"/>
            <a:ext cx="146304" cy="146304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443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Wiki — </a:t>
            </a:r>
            <a:pPr indent="0" marL="0">
              <a:buNone/>
            </a:pPr>
            <a:r>
              <a:rPr lang="en-US" sz="1300" dirty="0">
                <a:solidFill>
                  <a:srgbClr val="D5E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미리 위키로 정제한다 (02)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447288"/>
            <a:ext cx="146304" cy="146304"/>
          </a:xfrm>
          <a:prstGeom prst="ellipse">
            <a:avLst/>
          </a:prstGeom>
          <a:solidFill>
            <a:srgbClr val="E0A7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198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Wiki — </a:t>
            </a:r>
            <a:pPr indent="0" marL="0">
              <a:buNone/>
            </a:pPr>
            <a:r>
              <a:rPr lang="en-US" sz="1300" dirty="0">
                <a:solidFill>
                  <a:srgbClr val="D5E2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정제와 검색을 합쳐 규모·품질을 잡는다 (03)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&amp; LLM Wiki 실습 강의</dc:title>
  <dc:subject>PptxGenJS Presentation</dc:subject>
  <dc:creator>AI Agent 실무 부트캠프 2026</dc:creator>
  <cp:lastModifiedBy>AI Agent 실무 부트캠프 2026</cp:lastModifiedBy>
  <cp:revision>1</cp:revision>
  <dcterms:created xsi:type="dcterms:W3CDTF">2026-07-04T01:39:10Z</dcterms:created>
  <dcterms:modified xsi:type="dcterms:W3CDTF">2026-07-04T01:39:10Z</dcterms:modified>
</cp:coreProperties>
</file>